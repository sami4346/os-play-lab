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Barlow Bold" panose="020B0604020202020204" charset="0"/>
      <p:regular r:id="rId8"/>
    </p:embeddedFont>
    <p:embeddedFont>
      <p:font typeface="Montserrat" panose="00000500000000000000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053316" y="35868"/>
            <a:ext cx="7200900" cy="10287000"/>
            <a:chOff x="0" y="0"/>
            <a:chExt cx="96012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601200" cy="13716000"/>
            </a:xfrm>
            <a:custGeom>
              <a:avLst/>
              <a:gdLst/>
              <a:ahLst/>
              <a:cxnLst/>
              <a:rect l="l" t="t" r="r" b="b"/>
              <a:pathLst>
                <a:path w="9601200" h="137160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47886" y="1934766"/>
            <a:ext cx="7126932" cy="92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Smart OS Simulator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886" y="3193702"/>
            <a:ext cx="953422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Smart OS Simulator is an interactive educational web application.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886" y="3931741"/>
            <a:ext cx="953422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Frontend built with Vite + React (TypeScript).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886" y="4669780"/>
            <a:ext cx="9534228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Optional Flask backend for advanced features.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886" y="5407819"/>
            <a:ext cx="953422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Helps students explore core Operating System concepts visually and interactively.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886" y="7560915"/>
            <a:ext cx="1887885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C223198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06092" y="7560915"/>
            <a:ext cx="1887885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C231051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64300" y="7560915"/>
            <a:ext cx="1887885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C231053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22506" y="7560915"/>
            <a:ext cx="1887885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C231062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3345805"/>
            <a:chOff x="0" y="0"/>
            <a:chExt cx="24384000" cy="446107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461129"/>
            </a:xfrm>
            <a:custGeom>
              <a:avLst/>
              <a:gdLst/>
              <a:ahLst/>
              <a:cxnLst/>
              <a:rect l="l" t="t" r="r" b="b"/>
              <a:pathLst>
                <a:path w="24384000" h="4461129">
                  <a:moveTo>
                    <a:pt x="0" y="0"/>
                  </a:moveTo>
                  <a:lnTo>
                    <a:pt x="24384000" y="0"/>
                  </a:lnTo>
                  <a:lnTo>
                    <a:pt x="24384000" y="4461129"/>
                  </a:lnTo>
                  <a:lnTo>
                    <a:pt x="0" y="4461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" r="-37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9105" y="3896618"/>
            <a:ext cx="6708576" cy="86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9105" y="5381922"/>
            <a:ext cx="4025056" cy="5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CPU Scheduling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05" y="6092279"/>
            <a:ext cx="7893992" cy="88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Simulate CPU scheduling algorithms with Gantt charts and metrics.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64428" y="5381922"/>
            <a:ext cx="4025056" cy="5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Memory Allocation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428" y="6092279"/>
            <a:ext cx="7893992" cy="47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Visualize memory allocation strategies and fragmentation.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05" y="7726264"/>
            <a:ext cx="4025056" cy="5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Page Replacement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05" y="8436620"/>
            <a:ext cx="7893992" cy="47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Demonstrate page replacement algorithms step by step.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64428" y="7726264"/>
            <a:ext cx="4025056" cy="5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Learning Support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4428" y="8436620"/>
            <a:ext cx="7893992" cy="88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Provide learning support via analysis tools and an OS Q&amp;A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000125"/>
            <a:ext cx="5701605" cy="74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Methodology</a:t>
            </a:r>
          </a:p>
        </p:txBody>
      </p:sp>
      <p:pic>
        <p:nvPicPr>
          <p:cNvPr id="8" name="Picture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AE59FBF4-C7D6-F316-F1A8-6B55486A6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732497"/>
            <a:ext cx="16649700" cy="7953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1639192"/>
            <a:ext cx="7126932" cy="92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Limitations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8836" y="3090714"/>
            <a:ext cx="5321647" cy="2652712"/>
            <a:chOff x="0" y="0"/>
            <a:chExt cx="7095530" cy="353695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7044690" cy="3486150"/>
            </a:xfrm>
            <a:custGeom>
              <a:avLst/>
              <a:gdLst/>
              <a:ahLst/>
              <a:cxnLst/>
              <a:rect l="l" t="t" r="r" b="b"/>
              <a:pathLst>
                <a:path w="7044690" h="348615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99072" y="0"/>
                  </a:lnTo>
                  <a:cubicBezTo>
                    <a:pt x="6934708" y="0"/>
                    <a:pt x="7044690" y="109220"/>
                    <a:pt x="7044690" y="243840"/>
                  </a:cubicBezTo>
                  <a:lnTo>
                    <a:pt x="7044690" y="3242310"/>
                  </a:lnTo>
                  <a:cubicBezTo>
                    <a:pt x="7044690" y="3376930"/>
                    <a:pt x="6934708" y="3486150"/>
                    <a:pt x="6799072" y="3486150"/>
                  </a:cubicBezTo>
                  <a:lnTo>
                    <a:pt x="245618" y="3486150"/>
                  </a:lnTo>
                  <a:cubicBezTo>
                    <a:pt x="109982" y="3486150"/>
                    <a:pt x="0" y="3376930"/>
                    <a:pt x="0" y="32423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7095490" cy="3536950"/>
            </a:xfrm>
            <a:custGeom>
              <a:avLst/>
              <a:gdLst/>
              <a:ahLst/>
              <a:cxnLst/>
              <a:rect l="l" t="t" r="r" b="b"/>
              <a:pathLst>
                <a:path w="7095490" h="353695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824472" y="0"/>
                  </a:lnTo>
                  <a:lnTo>
                    <a:pt x="6824472" y="25400"/>
                  </a:lnTo>
                  <a:lnTo>
                    <a:pt x="6824472" y="0"/>
                  </a:lnTo>
                  <a:cubicBezTo>
                    <a:pt x="6973951" y="0"/>
                    <a:pt x="7095490" y="120396"/>
                    <a:pt x="7095490" y="269240"/>
                  </a:cubicBezTo>
                  <a:lnTo>
                    <a:pt x="7070090" y="269240"/>
                  </a:lnTo>
                  <a:lnTo>
                    <a:pt x="7095490" y="269240"/>
                  </a:lnTo>
                  <a:lnTo>
                    <a:pt x="7095490" y="3267710"/>
                  </a:lnTo>
                  <a:lnTo>
                    <a:pt x="7070090" y="3267710"/>
                  </a:lnTo>
                  <a:lnTo>
                    <a:pt x="7095490" y="3267710"/>
                  </a:lnTo>
                  <a:cubicBezTo>
                    <a:pt x="7095490" y="3416554"/>
                    <a:pt x="6973951" y="3536950"/>
                    <a:pt x="6824472" y="3536950"/>
                  </a:cubicBezTo>
                  <a:lnTo>
                    <a:pt x="6824472" y="3511550"/>
                  </a:lnTo>
                  <a:lnTo>
                    <a:pt x="6824472" y="3536950"/>
                  </a:lnTo>
                  <a:lnTo>
                    <a:pt x="271018" y="3536950"/>
                  </a:lnTo>
                  <a:lnTo>
                    <a:pt x="271018" y="3511550"/>
                  </a:lnTo>
                  <a:lnTo>
                    <a:pt x="271018" y="3536950"/>
                  </a:lnTo>
                  <a:cubicBezTo>
                    <a:pt x="121539" y="3536950"/>
                    <a:pt x="0" y="3416554"/>
                    <a:pt x="0" y="32677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67710"/>
                  </a:lnTo>
                  <a:lnTo>
                    <a:pt x="25400" y="3267710"/>
                  </a:lnTo>
                  <a:lnTo>
                    <a:pt x="50800" y="3267710"/>
                  </a:lnTo>
                  <a:cubicBezTo>
                    <a:pt x="50800" y="3388233"/>
                    <a:pt x="149225" y="3486150"/>
                    <a:pt x="271018" y="3486150"/>
                  </a:cubicBezTo>
                  <a:lnTo>
                    <a:pt x="6824472" y="3486150"/>
                  </a:lnTo>
                  <a:cubicBezTo>
                    <a:pt x="6946265" y="3486150"/>
                    <a:pt x="7044690" y="3388233"/>
                    <a:pt x="7044690" y="3267710"/>
                  </a:cubicBezTo>
                  <a:lnTo>
                    <a:pt x="7044690" y="269240"/>
                  </a:lnTo>
                  <a:cubicBezTo>
                    <a:pt x="7044690" y="148717"/>
                    <a:pt x="6946265" y="50800"/>
                    <a:pt x="68244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09786" y="3109764"/>
            <a:ext cx="152400" cy="2614612"/>
            <a:chOff x="0" y="0"/>
            <a:chExt cx="203200" cy="348615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03200" cy="3486150"/>
            </a:xfrm>
            <a:custGeom>
              <a:avLst/>
              <a:gdLst/>
              <a:ahLst/>
              <a:cxnLst/>
              <a:rect l="l" t="t" r="r" b="b"/>
              <a:pathLst>
                <a:path w="203200" h="3486150">
                  <a:moveTo>
                    <a:pt x="0" y="0"/>
                  </a:moveTo>
                  <a:lnTo>
                    <a:pt x="203200" y="0"/>
                  </a:lnTo>
                  <a:lnTo>
                    <a:pt x="203200" y="3486150"/>
                  </a:lnTo>
                  <a:lnTo>
                    <a:pt x="0" y="348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1" b="-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71005" y="3399532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Configuration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1005" y="4039195"/>
            <a:ext cx="4551610" cy="13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Frontend–backend configuration is tightly coupled to local development.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483102" y="3090714"/>
            <a:ext cx="5321647" cy="2652712"/>
            <a:chOff x="0" y="0"/>
            <a:chExt cx="7095530" cy="3536950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7044690" cy="3486150"/>
            </a:xfrm>
            <a:custGeom>
              <a:avLst/>
              <a:gdLst/>
              <a:ahLst/>
              <a:cxnLst/>
              <a:rect l="l" t="t" r="r" b="b"/>
              <a:pathLst>
                <a:path w="7044690" h="348615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99072" y="0"/>
                  </a:lnTo>
                  <a:cubicBezTo>
                    <a:pt x="6934708" y="0"/>
                    <a:pt x="7044690" y="109220"/>
                    <a:pt x="7044690" y="243840"/>
                  </a:cubicBezTo>
                  <a:lnTo>
                    <a:pt x="7044690" y="3242310"/>
                  </a:lnTo>
                  <a:cubicBezTo>
                    <a:pt x="7044690" y="3376930"/>
                    <a:pt x="6934708" y="3486150"/>
                    <a:pt x="6799072" y="3486150"/>
                  </a:cubicBezTo>
                  <a:lnTo>
                    <a:pt x="245618" y="3486150"/>
                  </a:lnTo>
                  <a:cubicBezTo>
                    <a:pt x="109982" y="3486150"/>
                    <a:pt x="0" y="3376930"/>
                    <a:pt x="0" y="32423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095490" cy="3536950"/>
            </a:xfrm>
            <a:custGeom>
              <a:avLst/>
              <a:gdLst/>
              <a:ahLst/>
              <a:cxnLst/>
              <a:rect l="l" t="t" r="r" b="b"/>
              <a:pathLst>
                <a:path w="7095490" h="353695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824472" y="0"/>
                  </a:lnTo>
                  <a:lnTo>
                    <a:pt x="6824472" y="25400"/>
                  </a:lnTo>
                  <a:lnTo>
                    <a:pt x="6824472" y="0"/>
                  </a:lnTo>
                  <a:cubicBezTo>
                    <a:pt x="6973951" y="0"/>
                    <a:pt x="7095490" y="120396"/>
                    <a:pt x="7095490" y="269240"/>
                  </a:cubicBezTo>
                  <a:lnTo>
                    <a:pt x="7070090" y="269240"/>
                  </a:lnTo>
                  <a:lnTo>
                    <a:pt x="7095490" y="269240"/>
                  </a:lnTo>
                  <a:lnTo>
                    <a:pt x="7095490" y="3267710"/>
                  </a:lnTo>
                  <a:lnTo>
                    <a:pt x="7070090" y="3267710"/>
                  </a:lnTo>
                  <a:lnTo>
                    <a:pt x="7095490" y="3267710"/>
                  </a:lnTo>
                  <a:cubicBezTo>
                    <a:pt x="7095490" y="3416554"/>
                    <a:pt x="6973951" y="3536950"/>
                    <a:pt x="6824472" y="3536950"/>
                  </a:cubicBezTo>
                  <a:lnTo>
                    <a:pt x="6824472" y="3511550"/>
                  </a:lnTo>
                  <a:lnTo>
                    <a:pt x="6824472" y="3536950"/>
                  </a:lnTo>
                  <a:lnTo>
                    <a:pt x="271018" y="3536950"/>
                  </a:lnTo>
                  <a:lnTo>
                    <a:pt x="271018" y="3511550"/>
                  </a:lnTo>
                  <a:lnTo>
                    <a:pt x="271018" y="3536950"/>
                  </a:lnTo>
                  <a:cubicBezTo>
                    <a:pt x="121539" y="3536950"/>
                    <a:pt x="0" y="3416554"/>
                    <a:pt x="0" y="32677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67710"/>
                  </a:lnTo>
                  <a:lnTo>
                    <a:pt x="25400" y="3267710"/>
                  </a:lnTo>
                  <a:lnTo>
                    <a:pt x="50800" y="3267710"/>
                  </a:lnTo>
                  <a:cubicBezTo>
                    <a:pt x="50800" y="3388233"/>
                    <a:pt x="149225" y="3486150"/>
                    <a:pt x="271018" y="3486150"/>
                  </a:cubicBezTo>
                  <a:lnTo>
                    <a:pt x="6824472" y="3486150"/>
                  </a:lnTo>
                  <a:cubicBezTo>
                    <a:pt x="6946265" y="3486150"/>
                    <a:pt x="7044690" y="3388233"/>
                    <a:pt x="7044690" y="3267710"/>
                  </a:cubicBezTo>
                  <a:lnTo>
                    <a:pt x="7044690" y="269240"/>
                  </a:lnTo>
                  <a:cubicBezTo>
                    <a:pt x="7044690" y="148717"/>
                    <a:pt x="6946265" y="50800"/>
                    <a:pt x="68244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6464052" y="3109764"/>
            <a:ext cx="152400" cy="2614612"/>
            <a:chOff x="0" y="0"/>
            <a:chExt cx="203200" cy="348615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203200" cy="3486150"/>
            </a:xfrm>
            <a:custGeom>
              <a:avLst/>
              <a:gdLst/>
              <a:ahLst/>
              <a:cxnLst/>
              <a:rect l="l" t="t" r="r" b="b"/>
              <a:pathLst>
                <a:path w="203200" h="3486150">
                  <a:moveTo>
                    <a:pt x="0" y="0"/>
                  </a:moveTo>
                  <a:lnTo>
                    <a:pt x="203200" y="0"/>
                  </a:lnTo>
                  <a:lnTo>
                    <a:pt x="203200" y="3486150"/>
                  </a:lnTo>
                  <a:lnTo>
                    <a:pt x="0" y="348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1" b="-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25270" y="3399532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Security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25270" y="4039195"/>
            <a:ext cx="4551610" cy="13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Security concerns: debug mode enabled and API keys stored in .env.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37367" y="3090714"/>
            <a:ext cx="5321796" cy="2652712"/>
            <a:chOff x="0" y="0"/>
            <a:chExt cx="7095728" cy="3536950"/>
          </a:xfrm>
        </p:grpSpPr>
        <p:sp>
          <p:nvSpPr>
            <p:cNvPr id="22" name="Freeform 22"/>
            <p:cNvSpPr/>
            <p:nvPr/>
          </p:nvSpPr>
          <p:spPr>
            <a:xfrm>
              <a:off x="25400" y="25400"/>
              <a:ext cx="7044944" cy="3486150"/>
            </a:xfrm>
            <a:custGeom>
              <a:avLst/>
              <a:gdLst/>
              <a:ahLst/>
              <a:cxnLst/>
              <a:rect l="l" t="t" r="r" b="b"/>
              <a:pathLst>
                <a:path w="7044944" h="348615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99326" y="0"/>
                  </a:lnTo>
                  <a:cubicBezTo>
                    <a:pt x="6934962" y="0"/>
                    <a:pt x="7044944" y="109220"/>
                    <a:pt x="7044944" y="243840"/>
                  </a:cubicBezTo>
                  <a:lnTo>
                    <a:pt x="7044944" y="3242310"/>
                  </a:lnTo>
                  <a:cubicBezTo>
                    <a:pt x="7044944" y="3376930"/>
                    <a:pt x="6934962" y="3486150"/>
                    <a:pt x="6799326" y="3486150"/>
                  </a:cubicBezTo>
                  <a:lnTo>
                    <a:pt x="245618" y="3486150"/>
                  </a:lnTo>
                  <a:cubicBezTo>
                    <a:pt x="109982" y="3486150"/>
                    <a:pt x="0" y="3376930"/>
                    <a:pt x="0" y="32423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7095744" cy="3536950"/>
            </a:xfrm>
            <a:custGeom>
              <a:avLst/>
              <a:gdLst/>
              <a:ahLst/>
              <a:cxnLst/>
              <a:rect l="l" t="t" r="r" b="b"/>
              <a:pathLst>
                <a:path w="7095744" h="353695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824726" y="0"/>
                  </a:lnTo>
                  <a:lnTo>
                    <a:pt x="6824726" y="25400"/>
                  </a:lnTo>
                  <a:lnTo>
                    <a:pt x="6824726" y="0"/>
                  </a:lnTo>
                  <a:cubicBezTo>
                    <a:pt x="6974205" y="0"/>
                    <a:pt x="7095744" y="120396"/>
                    <a:pt x="7095744" y="269240"/>
                  </a:cubicBezTo>
                  <a:lnTo>
                    <a:pt x="7070344" y="269240"/>
                  </a:lnTo>
                  <a:lnTo>
                    <a:pt x="7095744" y="269240"/>
                  </a:lnTo>
                  <a:lnTo>
                    <a:pt x="7095744" y="3267710"/>
                  </a:lnTo>
                  <a:lnTo>
                    <a:pt x="7070344" y="3267710"/>
                  </a:lnTo>
                  <a:lnTo>
                    <a:pt x="7095744" y="3267710"/>
                  </a:lnTo>
                  <a:cubicBezTo>
                    <a:pt x="7095744" y="3416554"/>
                    <a:pt x="6974205" y="3536950"/>
                    <a:pt x="6824726" y="3536950"/>
                  </a:cubicBezTo>
                  <a:lnTo>
                    <a:pt x="6824726" y="3511550"/>
                  </a:lnTo>
                  <a:lnTo>
                    <a:pt x="6824726" y="3536950"/>
                  </a:lnTo>
                  <a:lnTo>
                    <a:pt x="271018" y="3536950"/>
                  </a:lnTo>
                  <a:lnTo>
                    <a:pt x="271018" y="3511550"/>
                  </a:lnTo>
                  <a:lnTo>
                    <a:pt x="271018" y="3536950"/>
                  </a:lnTo>
                  <a:cubicBezTo>
                    <a:pt x="121539" y="3536950"/>
                    <a:pt x="0" y="3416554"/>
                    <a:pt x="0" y="32677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67710"/>
                  </a:lnTo>
                  <a:lnTo>
                    <a:pt x="25400" y="3267710"/>
                  </a:lnTo>
                  <a:lnTo>
                    <a:pt x="50800" y="3267710"/>
                  </a:lnTo>
                  <a:cubicBezTo>
                    <a:pt x="50800" y="3388233"/>
                    <a:pt x="149225" y="3486150"/>
                    <a:pt x="271018" y="3486150"/>
                  </a:cubicBezTo>
                  <a:lnTo>
                    <a:pt x="6824726" y="3486150"/>
                  </a:lnTo>
                  <a:cubicBezTo>
                    <a:pt x="6946519" y="3486150"/>
                    <a:pt x="7044944" y="3388233"/>
                    <a:pt x="7044944" y="3267710"/>
                  </a:cubicBezTo>
                  <a:lnTo>
                    <a:pt x="7044944" y="269240"/>
                  </a:lnTo>
                  <a:cubicBezTo>
                    <a:pt x="7044944" y="148717"/>
                    <a:pt x="6946519" y="50800"/>
                    <a:pt x="6824726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2018317" y="3109764"/>
            <a:ext cx="152400" cy="2614612"/>
            <a:chOff x="0" y="0"/>
            <a:chExt cx="203200" cy="3486150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203200" cy="3486150"/>
            </a:xfrm>
            <a:custGeom>
              <a:avLst/>
              <a:gdLst/>
              <a:ahLst/>
              <a:cxnLst/>
              <a:rect l="l" t="t" r="r" b="b"/>
              <a:pathLst>
                <a:path w="203200" h="3486150">
                  <a:moveTo>
                    <a:pt x="0" y="0"/>
                  </a:moveTo>
                  <a:lnTo>
                    <a:pt x="203200" y="0"/>
                  </a:lnTo>
                  <a:lnTo>
                    <a:pt x="203200" y="3486150"/>
                  </a:lnTo>
                  <a:lnTo>
                    <a:pt x="0" y="348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1" b="-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479536" y="3399532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ML Scheduler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79536" y="4039195"/>
            <a:ext cx="4551760" cy="13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ML scheduler trained on synthetic data may not generalize well.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8836" y="5976045"/>
            <a:ext cx="5321647" cy="2652712"/>
            <a:chOff x="0" y="0"/>
            <a:chExt cx="7095530" cy="3536950"/>
          </a:xfrm>
        </p:grpSpPr>
        <p:sp>
          <p:nvSpPr>
            <p:cNvPr id="29" name="Freeform 29"/>
            <p:cNvSpPr/>
            <p:nvPr/>
          </p:nvSpPr>
          <p:spPr>
            <a:xfrm>
              <a:off x="25400" y="25400"/>
              <a:ext cx="7044690" cy="3486150"/>
            </a:xfrm>
            <a:custGeom>
              <a:avLst/>
              <a:gdLst/>
              <a:ahLst/>
              <a:cxnLst/>
              <a:rect l="l" t="t" r="r" b="b"/>
              <a:pathLst>
                <a:path w="7044690" h="348615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99072" y="0"/>
                  </a:lnTo>
                  <a:cubicBezTo>
                    <a:pt x="6934708" y="0"/>
                    <a:pt x="7044690" y="109220"/>
                    <a:pt x="7044690" y="243840"/>
                  </a:cubicBezTo>
                  <a:lnTo>
                    <a:pt x="7044690" y="3242310"/>
                  </a:lnTo>
                  <a:cubicBezTo>
                    <a:pt x="7044690" y="3376930"/>
                    <a:pt x="6934708" y="3486150"/>
                    <a:pt x="6799072" y="3486150"/>
                  </a:cubicBezTo>
                  <a:lnTo>
                    <a:pt x="245618" y="3486150"/>
                  </a:lnTo>
                  <a:cubicBezTo>
                    <a:pt x="109982" y="3486150"/>
                    <a:pt x="0" y="3376930"/>
                    <a:pt x="0" y="32423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7095490" cy="3536950"/>
            </a:xfrm>
            <a:custGeom>
              <a:avLst/>
              <a:gdLst/>
              <a:ahLst/>
              <a:cxnLst/>
              <a:rect l="l" t="t" r="r" b="b"/>
              <a:pathLst>
                <a:path w="7095490" h="353695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824472" y="0"/>
                  </a:lnTo>
                  <a:lnTo>
                    <a:pt x="6824472" y="25400"/>
                  </a:lnTo>
                  <a:lnTo>
                    <a:pt x="6824472" y="0"/>
                  </a:lnTo>
                  <a:cubicBezTo>
                    <a:pt x="6973951" y="0"/>
                    <a:pt x="7095490" y="120396"/>
                    <a:pt x="7095490" y="269240"/>
                  </a:cubicBezTo>
                  <a:lnTo>
                    <a:pt x="7070090" y="269240"/>
                  </a:lnTo>
                  <a:lnTo>
                    <a:pt x="7095490" y="269240"/>
                  </a:lnTo>
                  <a:lnTo>
                    <a:pt x="7095490" y="3267710"/>
                  </a:lnTo>
                  <a:lnTo>
                    <a:pt x="7070090" y="3267710"/>
                  </a:lnTo>
                  <a:lnTo>
                    <a:pt x="7095490" y="3267710"/>
                  </a:lnTo>
                  <a:cubicBezTo>
                    <a:pt x="7095490" y="3416554"/>
                    <a:pt x="6973951" y="3536950"/>
                    <a:pt x="6824472" y="3536950"/>
                  </a:cubicBezTo>
                  <a:lnTo>
                    <a:pt x="6824472" y="3511550"/>
                  </a:lnTo>
                  <a:lnTo>
                    <a:pt x="6824472" y="3536950"/>
                  </a:lnTo>
                  <a:lnTo>
                    <a:pt x="271018" y="3536950"/>
                  </a:lnTo>
                  <a:lnTo>
                    <a:pt x="271018" y="3511550"/>
                  </a:lnTo>
                  <a:lnTo>
                    <a:pt x="271018" y="3536950"/>
                  </a:lnTo>
                  <a:cubicBezTo>
                    <a:pt x="121539" y="3536950"/>
                    <a:pt x="0" y="3416554"/>
                    <a:pt x="0" y="32677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67710"/>
                  </a:lnTo>
                  <a:lnTo>
                    <a:pt x="25400" y="3267710"/>
                  </a:lnTo>
                  <a:lnTo>
                    <a:pt x="50800" y="3267710"/>
                  </a:lnTo>
                  <a:cubicBezTo>
                    <a:pt x="50800" y="3388233"/>
                    <a:pt x="149225" y="3486150"/>
                    <a:pt x="271018" y="3486150"/>
                  </a:cubicBezTo>
                  <a:lnTo>
                    <a:pt x="6824472" y="3486150"/>
                  </a:lnTo>
                  <a:cubicBezTo>
                    <a:pt x="6946265" y="3486150"/>
                    <a:pt x="7044690" y="3388233"/>
                    <a:pt x="7044690" y="3267710"/>
                  </a:cubicBezTo>
                  <a:lnTo>
                    <a:pt x="7044690" y="269240"/>
                  </a:lnTo>
                  <a:cubicBezTo>
                    <a:pt x="7044690" y="148717"/>
                    <a:pt x="6946265" y="50800"/>
                    <a:pt x="68244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909786" y="5995095"/>
            <a:ext cx="152400" cy="2614612"/>
            <a:chOff x="0" y="0"/>
            <a:chExt cx="203200" cy="348615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203200" cy="3486150"/>
            </a:xfrm>
            <a:custGeom>
              <a:avLst/>
              <a:gdLst/>
              <a:ahLst/>
              <a:cxnLst/>
              <a:rect l="l" t="t" r="r" b="b"/>
              <a:pathLst>
                <a:path w="203200" h="3486150">
                  <a:moveTo>
                    <a:pt x="0" y="0"/>
                  </a:moveTo>
                  <a:lnTo>
                    <a:pt x="203200" y="0"/>
                  </a:lnTo>
                  <a:lnTo>
                    <a:pt x="203200" y="3486150"/>
                  </a:lnTo>
                  <a:lnTo>
                    <a:pt x="0" y="348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1" b="-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71005" y="6284862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User Management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71005" y="6924526"/>
            <a:ext cx="455161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No user authentication, persistence, or rate limiting.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483102" y="5976045"/>
            <a:ext cx="5321647" cy="2652712"/>
            <a:chOff x="0" y="0"/>
            <a:chExt cx="7095530" cy="3536950"/>
          </a:xfrm>
        </p:grpSpPr>
        <p:sp>
          <p:nvSpPr>
            <p:cNvPr id="36" name="Freeform 36"/>
            <p:cNvSpPr/>
            <p:nvPr/>
          </p:nvSpPr>
          <p:spPr>
            <a:xfrm>
              <a:off x="25400" y="25400"/>
              <a:ext cx="7044690" cy="3486150"/>
            </a:xfrm>
            <a:custGeom>
              <a:avLst/>
              <a:gdLst/>
              <a:ahLst/>
              <a:cxnLst/>
              <a:rect l="l" t="t" r="r" b="b"/>
              <a:pathLst>
                <a:path w="7044690" h="348615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99072" y="0"/>
                  </a:lnTo>
                  <a:cubicBezTo>
                    <a:pt x="6934708" y="0"/>
                    <a:pt x="7044690" y="109220"/>
                    <a:pt x="7044690" y="243840"/>
                  </a:cubicBezTo>
                  <a:lnTo>
                    <a:pt x="7044690" y="3242310"/>
                  </a:lnTo>
                  <a:cubicBezTo>
                    <a:pt x="7044690" y="3376930"/>
                    <a:pt x="6934708" y="3486150"/>
                    <a:pt x="6799072" y="3486150"/>
                  </a:cubicBezTo>
                  <a:lnTo>
                    <a:pt x="245618" y="3486150"/>
                  </a:lnTo>
                  <a:cubicBezTo>
                    <a:pt x="109982" y="3486150"/>
                    <a:pt x="0" y="3376930"/>
                    <a:pt x="0" y="324231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7095490" cy="3536950"/>
            </a:xfrm>
            <a:custGeom>
              <a:avLst/>
              <a:gdLst/>
              <a:ahLst/>
              <a:cxnLst/>
              <a:rect l="l" t="t" r="r" b="b"/>
              <a:pathLst>
                <a:path w="7095490" h="353695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824472" y="0"/>
                  </a:lnTo>
                  <a:lnTo>
                    <a:pt x="6824472" y="25400"/>
                  </a:lnTo>
                  <a:lnTo>
                    <a:pt x="6824472" y="0"/>
                  </a:lnTo>
                  <a:cubicBezTo>
                    <a:pt x="6973951" y="0"/>
                    <a:pt x="7095490" y="120396"/>
                    <a:pt x="7095490" y="269240"/>
                  </a:cubicBezTo>
                  <a:lnTo>
                    <a:pt x="7070090" y="269240"/>
                  </a:lnTo>
                  <a:lnTo>
                    <a:pt x="7095490" y="269240"/>
                  </a:lnTo>
                  <a:lnTo>
                    <a:pt x="7095490" y="3267710"/>
                  </a:lnTo>
                  <a:lnTo>
                    <a:pt x="7070090" y="3267710"/>
                  </a:lnTo>
                  <a:lnTo>
                    <a:pt x="7095490" y="3267710"/>
                  </a:lnTo>
                  <a:cubicBezTo>
                    <a:pt x="7095490" y="3416554"/>
                    <a:pt x="6973951" y="3536950"/>
                    <a:pt x="6824472" y="3536950"/>
                  </a:cubicBezTo>
                  <a:lnTo>
                    <a:pt x="6824472" y="3511550"/>
                  </a:lnTo>
                  <a:lnTo>
                    <a:pt x="6824472" y="3536950"/>
                  </a:lnTo>
                  <a:lnTo>
                    <a:pt x="271018" y="3536950"/>
                  </a:lnTo>
                  <a:lnTo>
                    <a:pt x="271018" y="3511550"/>
                  </a:lnTo>
                  <a:lnTo>
                    <a:pt x="271018" y="3536950"/>
                  </a:lnTo>
                  <a:cubicBezTo>
                    <a:pt x="121539" y="3536950"/>
                    <a:pt x="0" y="3416554"/>
                    <a:pt x="0" y="326771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67710"/>
                  </a:lnTo>
                  <a:lnTo>
                    <a:pt x="25400" y="3267710"/>
                  </a:lnTo>
                  <a:lnTo>
                    <a:pt x="50800" y="3267710"/>
                  </a:lnTo>
                  <a:cubicBezTo>
                    <a:pt x="50800" y="3388233"/>
                    <a:pt x="149225" y="3486150"/>
                    <a:pt x="271018" y="3486150"/>
                  </a:cubicBezTo>
                  <a:lnTo>
                    <a:pt x="6824472" y="3486150"/>
                  </a:lnTo>
                  <a:cubicBezTo>
                    <a:pt x="6946265" y="3486150"/>
                    <a:pt x="7044690" y="3388233"/>
                    <a:pt x="7044690" y="3267710"/>
                  </a:cubicBezTo>
                  <a:lnTo>
                    <a:pt x="7044690" y="269240"/>
                  </a:lnTo>
                  <a:cubicBezTo>
                    <a:pt x="7044690" y="148717"/>
                    <a:pt x="6946265" y="50800"/>
                    <a:pt x="68244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6464052" y="5995095"/>
            <a:ext cx="152400" cy="2614612"/>
            <a:chOff x="0" y="0"/>
            <a:chExt cx="203200" cy="3486150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203200" cy="3486150"/>
            </a:xfrm>
            <a:custGeom>
              <a:avLst/>
              <a:gdLst/>
              <a:ahLst/>
              <a:cxnLst/>
              <a:rect l="l" t="t" r="r" b="b"/>
              <a:pathLst>
                <a:path w="203200" h="3486150">
                  <a:moveTo>
                    <a:pt x="0" y="0"/>
                  </a:moveTo>
                  <a:lnTo>
                    <a:pt x="203200" y="0"/>
                  </a:lnTo>
                  <a:lnTo>
                    <a:pt x="203200" y="3486150"/>
                  </a:lnTo>
                  <a:lnTo>
                    <a:pt x="0" y="348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1" b="-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925270" y="6284862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Repository Size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25270" y="6924526"/>
            <a:ext cx="4551610" cy="13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Large repository size due to included node_modules and virtual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7886" y="1046559"/>
            <a:ext cx="7126932" cy="92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562" b="1">
                <a:solidFill>
                  <a:srgbClr val="2E3C4E"/>
                </a:solidFill>
                <a:latin typeface="Barlow Bold"/>
                <a:ea typeface="Barlow Bold"/>
                <a:cs typeface="Barlow Bold"/>
                <a:sym typeface="Barlow Bold"/>
              </a:rPr>
              <a:t>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3124" y="2512367"/>
            <a:ext cx="8070205" cy="3216771"/>
            <a:chOff x="0" y="0"/>
            <a:chExt cx="10760273" cy="4289028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10747502" cy="4276344"/>
            </a:xfrm>
            <a:custGeom>
              <a:avLst/>
              <a:gdLst/>
              <a:ahLst/>
              <a:cxnLst/>
              <a:rect l="l" t="t" r="r" b="b"/>
              <a:pathLst>
                <a:path w="10747502" h="4276344">
                  <a:moveTo>
                    <a:pt x="0" y="541655"/>
                  </a:moveTo>
                  <a:cubicBezTo>
                    <a:pt x="0" y="242443"/>
                    <a:pt x="242951" y="0"/>
                    <a:pt x="542544" y="0"/>
                  </a:cubicBezTo>
                  <a:lnTo>
                    <a:pt x="10204958" y="0"/>
                  </a:lnTo>
                  <a:cubicBezTo>
                    <a:pt x="10504677" y="0"/>
                    <a:pt x="10747502" y="242443"/>
                    <a:pt x="10747502" y="541655"/>
                  </a:cubicBezTo>
                  <a:lnTo>
                    <a:pt x="10747502" y="3734689"/>
                  </a:lnTo>
                  <a:cubicBezTo>
                    <a:pt x="10747502" y="4033774"/>
                    <a:pt x="10504551" y="4276344"/>
                    <a:pt x="10204958" y="4276344"/>
                  </a:cubicBezTo>
                  <a:lnTo>
                    <a:pt x="542544" y="4276344"/>
                  </a:lnTo>
                  <a:cubicBezTo>
                    <a:pt x="242951" y="4276344"/>
                    <a:pt x="0" y="4033774"/>
                    <a:pt x="0" y="3734689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0760202" cy="4289044"/>
            </a:xfrm>
            <a:custGeom>
              <a:avLst/>
              <a:gdLst/>
              <a:ahLst/>
              <a:cxnLst/>
              <a:rect l="l" t="t" r="r" b="b"/>
              <a:pathLst>
                <a:path w="10760202" h="4289044">
                  <a:moveTo>
                    <a:pt x="0" y="548005"/>
                  </a:moveTo>
                  <a:cubicBezTo>
                    <a:pt x="0" y="245364"/>
                    <a:pt x="245745" y="0"/>
                    <a:pt x="548894" y="0"/>
                  </a:cubicBezTo>
                  <a:lnTo>
                    <a:pt x="10211308" y="0"/>
                  </a:lnTo>
                  <a:lnTo>
                    <a:pt x="10211308" y="6350"/>
                  </a:lnTo>
                  <a:lnTo>
                    <a:pt x="10211308" y="0"/>
                  </a:lnTo>
                  <a:cubicBezTo>
                    <a:pt x="10514457" y="0"/>
                    <a:pt x="10760202" y="245364"/>
                    <a:pt x="10760202" y="548005"/>
                  </a:cubicBezTo>
                  <a:lnTo>
                    <a:pt x="10753852" y="548005"/>
                  </a:lnTo>
                  <a:lnTo>
                    <a:pt x="10760202" y="548005"/>
                  </a:lnTo>
                  <a:lnTo>
                    <a:pt x="10760202" y="3741039"/>
                  </a:lnTo>
                  <a:lnTo>
                    <a:pt x="10753852" y="3741039"/>
                  </a:lnTo>
                  <a:lnTo>
                    <a:pt x="10760202" y="3741039"/>
                  </a:lnTo>
                  <a:cubicBezTo>
                    <a:pt x="10760202" y="4043680"/>
                    <a:pt x="10514457" y="4289044"/>
                    <a:pt x="10211308" y="4289044"/>
                  </a:cubicBezTo>
                  <a:lnTo>
                    <a:pt x="10211308" y="4282694"/>
                  </a:lnTo>
                  <a:lnTo>
                    <a:pt x="10211308" y="4289044"/>
                  </a:lnTo>
                  <a:lnTo>
                    <a:pt x="548894" y="4289044"/>
                  </a:lnTo>
                  <a:lnTo>
                    <a:pt x="548894" y="4282694"/>
                  </a:lnTo>
                  <a:lnTo>
                    <a:pt x="548894" y="4289044"/>
                  </a:lnTo>
                  <a:cubicBezTo>
                    <a:pt x="245745" y="4289044"/>
                    <a:pt x="0" y="4043680"/>
                    <a:pt x="0" y="3741039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741039"/>
                  </a:lnTo>
                  <a:lnTo>
                    <a:pt x="6350" y="3741039"/>
                  </a:lnTo>
                  <a:lnTo>
                    <a:pt x="12700" y="3741039"/>
                  </a:lnTo>
                  <a:cubicBezTo>
                    <a:pt x="12700" y="4036695"/>
                    <a:pt x="252730" y="4276344"/>
                    <a:pt x="548894" y="4276344"/>
                  </a:cubicBezTo>
                  <a:lnTo>
                    <a:pt x="10211308" y="4276344"/>
                  </a:lnTo>
                  <a:cubicBezTo>
                    <a:pt x="10507472" y="4276344"/>
                    <a:pt x="10747502" y="4036695"/>
                    <a:pt x="10747502" y="3741039"/>
                  </a:cubicBezTo>
                  <a:lnTo>
                    <a:pt x="10747502" y="548005"/>
                  </a:lnTo>
                  <a:cubicBezTo>
                    <a:pt x="10747629" y="252349"/>
                    <a:pt x="10507472" y="12700"/>
                    <a:pt x="10211308" y="12700"/>
                  </a:cubicBezTo>
                  <a:lnTo>
                    <a:pt x="548894" y="12700"/>
                  </a:lnTo>
                  <a:lnTo>
                    <a:pt x="548894" y="6350"/>
                  </a:lnTo>
                  <a:lnTo>
                    <a:pt x="548894" y="12700"/>
                  </a:lnTo>
                  <a:cubicBezTo>
                    <a:pt x="252730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28130" y="2797374"/>
            <a:ext cx="812452" cy="812452"/>
            <a:chOff x="0" y="0"/>
            <a:chExt cx="1083270" cy="108327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451521" y="3020765"/>
            <a:ext cx="365523" cy="365522"/>
          </a:xfrm>
          <a:custGeom>
            <a:avLst/>
            <a:gdLst/>
            <a:ahLst/>
            <a:cxnLst/>
            <a:rect l="l" t="t" r="r" b="b"/>
            <a:pathLst>
              <a:path w="365523" h="365522">
                <a:moveTo>
                  <a:pt x="0" y="0"/>
                </a:moveTo>
                <a:lnTo>
                  <a:pt x="365523" y="0"/>
                </a:lnTo>
                <a:lnTo>
                  <a:pt x="365523" y="365523"/>
                </a:lnTo>
                <a:lnTo>
                  <a:pt x="0" y="365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948" r="-179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28130" y="3861495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Educational Lab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8130" y="4501158"/>
            <a:ext cx="750019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The project serves as a strong educational lab for OS concepts.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74522" y="2512367"/>
            <a:ext cx="8070354" cy="3216771"/>
            <a:chOff x="0" y="0"/>
            <a:chExt cx="10760472" cy="4289028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10747756" cy="4276344"/>
            </a:xfrm>
            <a:custGeom>
              <a:avLst/>
              <a:gdLst/>
              <a:ahLst/>
              <a:cxnLst/>
              <a:rect l="l" t="t" r="r" b="b"/>
              <a:pathLst>
                <a:path w="10747756" h="4276344">
                  <a:moveTo>
                    <a:pt x="0" y="541655"/>
                  </a:moveTo>
                  <a:cubicBezTo>
                    <a:pt x="0" y="242443"/>
                    <a:pt x="242951" y="0"/>
                    <a:pt x="542544" y="0"/>
                  </a:cubicBezTo>
                  <a:lnTo>
                    <a:pt x="10205212" y="0"/>
                  </a:lnTo>
                  <a:cubicBezTo>
                    <a:pt x="10504932" y="0"/>
                    <a:pt x="10747756" y="242443"/>
                    <a:pt x="10747756" y="541655"/>
                  </a:cubicBezTo>
                  <a:lnTo>
                    <a:pt x="10747756" y="3734689"/>
                  </a:lnTo>
                  <a:cubicBezTo>
                    <a:pt x="10747756" y="4033774"/>
                    <a:pt x="10504805" y="4276344"/>
                    <a:pt x="10205212" y="4276344"/>
                  </a:cubicBezTo>
                  <a:lnTo>
                    <a:pt x="542544" y="4276344"/>
                  </a:lnTo>
                  <a:cubicBezTo>
                    <a:pt x="242951" y="4276344"/>
                    <a:pt x="0" y="4033774"/>
                    <a:pt x="0" y="3734689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10760456" cy="4289044"/>
            </a:xfrm>
            <a:custGeom>
              <a:avLst/>
              <a:gdLst/>
              <a:ahLst/>
              <a:cxnLst/>
              <a:rect l="l" t="t" r="r" b="b"/>
              <a:pathLst>
                <a:path w="10760456" h="4289044">
                  <a:moveTo>
                    <a:pt x="0" y="548005"/>
                  </a:moveTo>
                  <a:cubicBezTo>
                    <a:pt x="0" y="245364"/>
                    <a:pt x="245745" y="0"/>
                    <a:pt x="548894" y="0"/>
                  </a:cubicBezTo>
                  <a:lnTo>
                    <a:pt x="10211562" y="0"/>
                  </a:lnTo>
                  <a:lnTo>
                    <a:pt x="10211562" y="6350"/>
                  </a:lnTo>
                  <a:lnTo>
                    <a:pt x="10211562" y="0"/>
                  </a:lnTo>
                  <a:cubicBezTo>
                    <a:pt x="10514711" y="0"/>
                    <a:pt x="10760456" y="245364"/>
                    <a:pt x="10760456" y="548005"/>
                  </a:cubicBezTo>
                  <a:lnTo>
                    <a:pt x="10754106" y="548005"/>
                  </a:lnTo>
                  <a:lnTo>
                    <a:pt x="10760456" y="548005"/>
                  </a:lnTo>
                  <a:lnTo>
                    <a:pt x="10760456" y="3741039"/>
                  </a:lnTo>
                  <a:lnTo>
                    <a:pt x="10754106" y="3741039"/>
                  </a:lnTo>
                  <a:lnTo>
                    <a:pt x="10760456" y="3741039"/>
                  </a:lnTo>
                  <a:cubicBezTo>
                    <a:pt x="10760456" y="4043680"/>
                    <a:pt x="10514711" y="4289044"/>
                    <a:pt x="10211562" y="4289044"/>
                  </a:cubicBezTo>
                  <a:lnTo>
                    <a:pt x="10211562" y="4282694"/>
                  </a:lnTo>
                  <a:lnTo>
                    <a:pt x="10211562" y="4289044"/>
                  </a:lnTo>
                  <a:lnTo>
                    <a:pt x="548894" y="4289044"/>
                  </a:lnTo>
                  <a:lnTo>
                    <a:pt x="548894" y="4282694"/>
                  </a:lnTo>
                  <a:lnTo>
                    <a:pt x="548894" y="4289044"/>
                  </a:lnTo>
                  <a:cubicBezTo>
                    <a:pt x="245745" y="4289044"/>
                    <a:pt x="0" y="4043680"/>
                    <a:pt x="0" y="3741039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741039"/>
                  </a:lnTo>
                  <a:lnTo>
                    <a:pt x="6350" y="3741039"/>
                  </a:lnTo>
                  <a:lnTo>
                    <a:pt x="12700" y="3741039"/>
                  </a:lnTo>
                  <a:cubicBezTo>
                    <a:pt x="12700" y="4036695"/>
                    <a:pt x="252730" y="4276344"/>
                    <a:pt x="548894" y="4276344"/>
                  </a:cubicBezTo>
                  <a:lnTo>
                    <a:pt x="10211562" y="4276344"/>
                  </a:lnTo>
                  <a:cubicBezTo>
                    <a:pt x="10507726" y="4276344"/>
                    <a:pt x="10747756" y="4036695"/>
                    <a:pt x="10747756" y="3741039"/>
                  </a:cubicBezTo>
                  <a:lnTo>
                    <a:pt x="10747756" y="548005"/>
                  </a:lnTo>
                  <a:cubicBezTo>
                    <a:pt x="10747756" y="252349"/>
                    <a:pt x="10507726" y="12700"/>
                    <a:pt x="10211562" y="12700"/>
                  </a:cubicBezTo>
                  <a:lnTo>
                    <a:pt x="548894" y="12700"/>
                  </a:lnTo>
                  <a:lnTo>
                    <a:pt x="548894" y="6350"/>
                  </a:lnTo>
                  <a:lnTo>
                    <a:pt x="548894" y="12700"/>
                  </a:lnTo>
                  <a:cubicBezTo>
                    <a:pt x="252730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559529" y="2797374"/>
            <a:ext cx="812452" cy="812452"/>
            <a:chOff x="0" y="0"/>
            <a:chExt cx="1083270" cy="108327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9782919" y="3020765"/>
            <a:ext cx="365523" cy="365522"/>
          </a:xfrm>
          <a:custGeom>
            <a:avLst/>
            <a:gdLst/>
            <a:ahLst/>
            <a:cxnLst/>
            <a:rect l="l" t="t" r="r" b="b"/>
            <a:pathLst>
              <a:path w="365523" h="365522">
                <a:moveTo>
                  <a:pt x="0" y="0"/>
                </a:moveTo>
                <a:lnTo>
                  <a:pt x="365522" y="0"/>
                </a:lnTo>
                <a:lnTo>
                  <a:pt x="365522" y="365523"/>
                </a:lnTo>
                <a:lnTo>
                  <a:pt x="0" y="365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282" b="-12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9559529" y="3861495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Clear Visualizations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59529" y="4501158"/>
            <a:ext cx="7500342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Clear visualizations improve understanding of core algorithms.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3124" y="5990332"/>
            <a:ext cx="8070205" cy="3216771"/>
            <a:chOff x="0" y="0"/>
            <a:chExt cx="10760273" cy="4289028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10747502" cy="4276344"/>
            </a:xfrm>
            <a:custGeom>
              <a:avLst/>
              <a:gdLst/>
              <a:ahLst/>
              <a:cxnLst/>
              <a:rect l="l" t="t" r="r" b="b"/>
              <a:pathLst>
                <a:path w="10747502" h="4276344">
                  <a:moveTo>
                    <a:pt x="0" y="541655"/>
                  </a:moveTo>
                  <a:cubicBezTo>
                    <a:pt x="0" y="242443"/>
                    <a:pt x="242951" y="0"/>
                    <a:pt x="542544" y="0"/>
                  </a:cubicBezTo>
                  <a:lnTo>
                    <a:pt x="10204958" y="0"/>
                  </a:lnTo>
                  <a:cubicBezTo>
                    <a:pt x="10504677" y="0"/>
                    <a:pt x="10747502" y="242443"/>
                    <a:pt x="10747502" y="541655"/>
                  </a:cubicBezTo>
                  <a:lnTo>
                    <a:pt x="10747502" y="3734689"/>
                  </a:lnTo>
                  <a:cubicBezTo>
                    <a:pt x="10747502" y="4033774"/>
                    <a:pt x="10504551" y="4276344"/>
                    <a:pt x="10204958" y="4276344"/>
                  </a:cubicBezTo>
                  <a:lnTo>
                    <a:pt x="542544" y="4276344"/>
                  </a:lnTo>
                  <a:cubicBezTo>
                    <a:pt x="242951" y="4276344"/>
                    <a:pt x="0" y="4033774"/>
                    <a:pt x="0" y="3734689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10760202" cy="4289044"/>
            </a:xfrm>
            <a:custGeom>
              <a:avLst/>
              <a:gdLst/>
              <a:ahLst/>
              <a:cxnLst/>
              <a:rect l="l" t="t" r="r" b="b"/>
              <a:pathLst>
                <a:path w="10760202" h="4289044">
                  <a:moveTo>
                    <a:pt x="0" y="548005"/>
                  </a:moveTo>
                  <a:cubicBezTo>
                    <a:pt x="0" y="245364"/>
                    <a:pt x="245745" y="0"/>
                    <a:pt x="548894" y="0"/>
                  </a:cubicBezTo>
                  <a:lnTo>
                    <a:pt x="10211308" y="0"/>
                  </a:lnTo>
                  <a:lnTo>
                    <a:pt x="10211308" y="6350"/>
                  </a:lnTo>
                  <a:lnTo>
                    <a:pt x="10211308" y="0"/>
                  </a:lnTo>
                  <a:cubicBezTo>
                    <a:pt x="10514457" y="0"/>
                    <a:pt x="10760202" y="245364"/>
                    <a:pt x="10760202" y="548005"/>
                  </a:cubicBezTo>
                  <a:lnTo>
                    <a:pt x="10753852" y="548005"/>
                  </a:lnTo>
                  <a:lnTo>
                    <a:pt x="10760202" y="548005"/>
                  </a:lnTo>
                  <a:lnTo>
                    <a:pt x="10760202" y="3741039"/>
                  </a:lnTo>
                  <a:lnTo>
                    <a:pt x="10753852" y="3741039"/>
                  </a:lnTo>
                  <a:lnTo>
                    <a:pt x="10760202" y="3741039"/>
                  </a:lnTo>
                  <a:cubicBezTo>
                    <a:pt x="10760202" y="4043680"/>
                    <a:pt x="10514457" y="4289044"/>
                    <a:pt x="10211308" y="4289044"/>
                  </a:cubicBezTo>
                  <a:lnTo>
                    <a:pt x="10211308" y="4282694"/>
                  </a:lnTo>
                  <a:lnTo>
                    <a:pt x="10211308" y="4289044"/>
                  </a:lnTo>
                  <a:lnTo>
                    <a:pt x="548894" y="4289044"/>
                  </a:lnTo>
                  <a:lnTo>
                    <a:pt x="548894" y="4282694"/>
                  </a:lnTo>
                  <a:lnTo>
                    <a:pt x="548894" y="4289044"/>
                  </a:lnTo>
                  <a:cubicBezTo>
                    <a:pt x="245745" y="4289044"/>
                    <a:pt x="0" y="4043680"/>
                    <a:pt x="0" y="3741039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741039"/>
                  </a:lnTo>
                  <a:lnTo>
                    <a:pt x="6350" y="3741039"/>
                  </a:lnTo>
                  <a:lnTo>
                    <a:pt x="12700" y="3741039"/>
                  </a:lnTo>
                  <a:cubicBezTo>
                    <a:pt x="12700" y="4036695"/>
                    <a:pt x="252730" y="4276344"/>
                    <a:pt x="548894" y="4276344"/>
                  </a:cubicBezTo>
                  <a:lnTo>
                    <a:pt x="10211308" y="4276344"/>
                  </a:lnTo>
                  <a:cubicBezTo>
                    <a:pt x="10507472" y="4276344"/>
                    <a:pt x="10747502" y="4036695"/>
                    <a:pt x="10747502" y="3741039"/>
                  </a:cubicBezTo>
                  <a:lnTo>
                    <a:pt x="10747502" y="548005"/>
                  </a:lnTo>
                  <a:cubicBezTo>
                    <a:pt x="10747629" y="252349"/>
                    <a:pt x="10507472" y="12700"/>
                    <a:pt x="10211308" y="12700"/>
                  </a:cubicBezTo>
                  <a:lnTo>
                    <a:pt x="548894" y="12700"/>
                  </a:lnTo>
                  <a:lnTo>
                    <a:pt x="548894" y="6350"/>
                  </a:lnTo>
                  <a:lnTo>
                    <a:pt x="548894" y="12700"/>
                  </a:lnTo>
                  <a:cubicBezTo>
                    <a:pt x="252730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228130" y="6275337"/>
            <a:ext cx="812452" cy="812452"/>
            <a:chOff x="0" y="0"/>
            <a:chExt cx="1083270" cy="108327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1451521" y="6498729"/>
            <a:ext cx="365523" cy="365522"/>
          </a:xfrm>
          <a:custGeom>
            <a:avLst/>
            <a:gdLst/>
            <a:ahLst/>
            <a:cxnLst/>
            <a:rect l="l" t="t" r="r" b="b"/>
            <a:pathLst>
              <a:path w="365523" h="365522">
                <a:moveTo>
                  <a:pt x="0" y="0"/>
                </a:moveTo>
                <a:lnTo>
                  <a:pt x="365523" y="0"/>
                </a:lnTo>
                <a:lnTo>
                  <a:pt x="365523" y="365522"/>
                </a:lnTo>
                <a:lnTo>
                  <a:pt x="0" y="3655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5128" b="-5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228130" y="7339459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AI Assistant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8130" y="7979122"/>
            <a:ext cx="750019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AI/knowledge-base assistant enhances learning support.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274522" y="5990332"/>
            <a:ext cx="8070354" cy="3216771"/>
            <a:chOff x="0" y="0"/>
            <a:chExt cx="10760472" cy="4289028"/>
          </a:xfrm>
        </p:grpSpPr>
        <p:sp>
          <p:nvSpPr>
            <p:cNvPr id="32" name="Freeform 32"/>
            <p:cNvSpPr/>
            <p:nvPr/>
          </p:nvSpPr>
          <p:spPr>
            <a:xfrm>
              <a:off x="6350" y="6350"/>
              <a:ext cx="10747756" cy="4276344"/>
            </a:xfrm>
            <a:custGeom>
              <a:avLst/>
              <a:gdLst/>
              <a:ahLst/>
              <a:cxnLst/>
              <a:rect l="l" t="t" r="r" b="b"/>
              <a:pathLst>
                <a:path w="10747756" h="4276344">
                  <a:moveTo>
                    <a:pt x="0" y="541655"/>
                  </a:moveTo>
                  <a:cubicBezTo>
                    <a:pt x="0" y="242443"/>
                    <a:pt x="242951" y="0"/>
                    <a:pt x="542544" y="0"/>
                  </a:cubicBezTo>
                  <a:lnTo>
                    <a:pt x="10205212" y="0"/>
                  </a:lnTo>
                  <a:cubicBezTo>
                    <a:pt x="10504932" y="0"/>
                    <a:pt x="10747756" y="242443"/>
                    <a:pt x="10747756" y="541655"/>
                  </a:cubicBezTo>
                  <a:lnTo>
                    <a:pt x="10747756" y="3734689"/>
                  </a:lnTo>
                  <a:cubicBezTo>
                    <a:pt x="10747756" y="4033774"/>
                    <a:pt x="10504805" y="4276344"/>
                    <a:pt x="10205212" y="4276344"/>
                  </a:cubicBezTo>
                  <a:lnTo>
                    <a:pt x="542544" y="4276344"/>
                  </a:lnTo>
                  <a:cubicBezTo>
                    <a:pt x="242951" y="4276344"/>
                    <a:pt x="0" y="4033774"/>
                    <a:pt x="0" y="3734689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10760456" cy="4289044"/>
            </a:xfrm>
            <a:custGeom>
              <a:avLst/>
              <a:gdLst/>
              <a:ahLst/>
              <a:cxnLst/>
              <a:rect l="l" t="t" r="r" b="b"/>
              <a:pathLst>
                <a:path w="10760456" h="4289044">
                  <a:moveTo>
                    <a:pt x="0" y="548005"/>
                  </a:moveTo>
                  <a:cubicBezTo>
                    <a:pt x="0" y="245364"/>
                    <a:pt x="245745" y="0"/>
                    <a:pt x="548894" y="0"/>
                  </a:cubicBezTo>
                  <a:lnTo>
                    <a:pt x="10211562" y="0"/>
                  </a:lnTo>
                  <a:lnTo>
                    <a:pt x="10211562" y="6350"/>
                  </a:lnTo>
                  <a:lnTo>
                    <a:pt x="10211562" y="0"/>
                  </a:lnTo>
                  <a:cubicBezTo>
                    <a:pt x="10514711" y="0"/>
                    <a:pt x="10760456" y="245364"/>
                    <a:pt x="10760456" y="548005"/>
                  </a:cubicBezTo>
                  <a:lnTo>
                    <a:pt x="10754106" y="548005"/>
                  </a:lnTo>
                  <a:lnTo>
                    <a:pt x="10760456" y="548005"/>
                  </a:lnTo>
                  <a:lnTo>
                    <a:pt x="10760456" y="3741039"/>
                  </a:lnTo>
                  <a:lnTo>
                    <a:pt x="10754106" y="3741039"/>
                  </a:lnTo>
                  <a:lnTo>
                    <a:pt x="10760456" y="3741039"/>
                  </a:lnTo>
                  <a:cubicBezTo>
                    <a:pt x="10760456" y="4043680"/>
                    <a:pt x="10514711" y="4289044"/>
                    <a:pt x="10211562" y="4289044"/>
                  </a:cubicBezTo>
                  <a:lnTo>
                    <a:pt x="10211562" y="4282694"/>
                  </a:lnTo>
                  <a:lnTo>
                    <a:pt x="10211562" y="4289044"/>
                  </a:lnTo>
                  <a:lnTo>
                    <a:pt x="548894" y="4289044"/>
                  </a:lnTo>
                  <a:lnTo>
                    <a:pt x="548894" y="4282694"/>
                  </a:lnTo>
                  <a:lnTo>
                    <a:pt x="548894" y="4289044"/>
                  </a:lnTo>
                  <a:cubicBezTo>
                    <a:pt x="245745" y="4289044"/>
                    <a:pt x="0" y="4043680"/>
                    <a:pt x="0" y="3741039"/>
                  </a:cubicBezTo>
                  <a:lnTo>
                    <a:pt x="0" y="548005"/>
                  </a:lnTo>
                  <a:lnTo>
                    <a:pt x="6350" y="548005"/>
                  </a:lnTo>
                  <a:lnTo>
                    <a:pt x="0" y="548005"/>
                  </a:lnTo>
                  <a:moveTo>
                    <a:pt x="12700" y="548005"/>
                  </a:moveTo>
                  <a:lnTo>
                    <a:pt x="12700" y="3741039"/>
                  </a:lnTo>
                  <a:lnTo>
                    <a:pt x="6350" y="3741039"/>
                  </a:lnTo>
                  <a:lnTo>
                    <a:pt x="12700" y="3741039"/>
                  </a:lnTo>
                  <a:cubicBezTo>
                    <a:pt x="12700" y="4036695"/>
                    <a:pt x="252730" y="4276344"/>
                    <a:pt x="548894" y="4276344"/>
                  </a:cubicBezTo>
                  <a:lnTo>
                    <a:pt x="10211562" y="4276344"/>
                  </a:lnTo>
                  <a:cubicBezTo>
                    <a:pt x="10507726" y="4276344"/>
                    <a:pt x="10747756" y="4036695"/>
                    <a:pt x="10747756" y="3741039"/>
                  </a:cubicBezTo>
                  <a:lnTo>
                    <a:pt x="10747756" y="548005"/>
                  </a:lnTo>
                  <a:cubicBezTo>
                    <a:pt x="10747756" y="252349"/>
                    <a:pt x="10507726" y="12700"/>
                    <a:pt x="10211562" y="12700"/>
                  </a:cubicBezTo>
                  <a:lnTo>
                    <a:pt x="548894" y="12700"/>
                  </a:lnTo>
                  <a:lnTo>
                    <a:pt x="548894" y="6350"/>
                  </a:lnTo>
                  <a:lnTo>
                    <a:pt x="548894" y="12700"/>
                  </a:lnTo>
                  <a:cubicBezTo>
                    <a:pt x="252730" y="12700"/>
                    <a:pt x="12700" y="252349"/>
                    <a:pt x="12700" y="54800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559529" y="6275337"/>
            <a:ext cx="812452" cy="812452"/>
            <a:chOff x="0" y="0"/>
            <a:chExt cx="1083270" cy="1083270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1083310" cy="1083310"/>
            </a:xfrm>
            <a:custGeom>
              <a:avLst/>
              <a:gdLst/>
              <a:ahLst/>
              <a:cxnLst/>
              <a:rect l="l" t="t" r="r" b="b"/>
              <a:pathLst>
                <a:path w="1083310" h="1083310">
                  <a:moveTo>
                    <a:pt x="0" y="0"/>
                  </a:moveTo>
                  <a:lnTo>
                    <a:pt x="1083310" y="0"/>
                  </a:lnTo>
                  <a:lnTo>
                    <a:pt x="1083310" y="1083310"/>
                  </a:lnTo>
                  <a:lnTo>
                    <a:pt x="0" y="1083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3" b="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559529" y="7339459"/>
            <a:ext cx="4276130" cy="55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>
                <a:solidFill>
                  <a:srgbClr val="384653"/>
                </a:solidFill>
                <a:latin typeface="Barlow Bold"/>
                <a:ea typeface="Barlow Bold"/>
                <a:cs typeface="Barlow Bold"/>
                <a:sym typeface="Barlow Bold"/>
              </a:rPr>
              <a:t>Future Improvements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59529" y="7979122"/>
            <a:ext cx="7500342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84653"/>
                </a:solidFill>
                <a:latin typeface="Montserrat"/>
                <a:ea typeface="Montserrat"/>
                <a:cs typeface="Montserrat"/>
                <a:sym typeface="Montserrat"/>
              </a:rPr>
              <a:t>Future improvements should focus on production readiness and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Custom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Barlow Bold</vt:lpstr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Smart-OS-Simulator.pptx</dc:title>
  <dc:creator>Sami Hassan</dc:creator>
  <cp:lastModifiedBy>Sami Hassan</cp:lastModifiedBy>
  <cp:revision>2</cp:revision>
  <dcterms:created xsi:type="dcterms:W3CDTF">2006-08-16T00:00:00Z</dcterms:created>
  <dcterms:modified xsi:type="dcterms:W3CDTF">2025-12-16T20:15:33Z</dcterms:modified>
  <dc:identifier>DAG7tMhMJVM</dc:identifier>
</cp:coreProperties>
</file>